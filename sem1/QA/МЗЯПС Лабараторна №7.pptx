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00DE6C9-F5B7-43DE-94F6-806437100C65}">
  <a:tblStyle styleId="{100DE6C9-F5B7-43DE-94F6-806437100C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aleway-regular.fntdata"/><Relationship Id="rId14" Type="http://schemas.openxmlformats.org/officeDocument/2006/relationships/slide" Target="slides/slide8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La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ec6d1b7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ec6d1b7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3ec6d1b7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3ec6d1b7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0d8cf75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0d8cf75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0d8cf75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0d8cf75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20d8cf75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20d8cf75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20d8cf75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20d8cf75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20d8cf75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20d8cf75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Лабараторна робота №7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з дисципліни:</a:t>
            </a:r>
            <a:r>
              <a:rPr b="0" lang="en-GB" sz="1800">
                <a:solidFill>
                  <a:srgbClr val="000000"/>
                </a:solidFill>
              </a:rPr>
              <a:t> «Методи забезпечення якості програмних систем»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тема: </a:t>
            </a:r>
            <a:r>
              <a:rPr b="0" lang="en-GB" sz="1800"/>
              <a:t>«Комплексне тестування криптобіржі Binance та API»</a:t>
            </a:r>
            <a:endParaRPr b="0" sz="18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Виконав:</a:t>
            </a:r>
            <a:r>
              <a:rPr lang="en-GB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студент групи ПЗС-1 </a:t>
            </a:r>
            <a:r>
              <a:rPr b="1" lang="en-GB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Лутай Артем Сергійович</a:t>
            </a:r>
            <a:endParaRPr sz="14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59475" y="1320175"/>
            <a:ext cx="7688700" cy="7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Специфікація вимог (SRS)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Стандарти:</a:t>
            </a:r>
            <a:r>
              <a:rPr b="0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ISO/IEC/IEEE 29148:2018, IEEE 830-1998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59475" y="2078875"/>
            <a:ext cx="4604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Функціональні вимоги (Functional Requirements)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Торгівля (Trading):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Розміщення ордерів (Limit, Market, Stop-Limit, OCO), робота Matching Engine.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Ринкові дані (Market Data):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Відображення графіків (TradingView), Order Book у реальному часі.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API Інтерфейси: </a:t>
            </a:r>
            <a:r>
              <a:rPr i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Public API, Private API, WebSocket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Гаманець (Wallet):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Генерація депозитних адрес, валідація мереж (TRC20/ERC20), виведення коштів.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Безпека (Security):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2FA (Google Auth, YubiKey), KYC-верифікація.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5063575" y="2078875"/>
            <a:ext cx="39765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Нефункціональні вимоги (Non-Functional Requirements)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Продуктивність (Performance):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Latency (затримка API) ≤100 мс.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Час зведення ордера (Matching) ≤50 мкс.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Безпека (Security): 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Шифрування TLS≥1.2, Підпис запитів алгоритмом HMAC SHA256. Захист від Replay-атак 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Надійність (Reliability):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Доступність сервісу (SLA) ≥99.9%.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Масштабованість: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Підтримка високого навантаження (High TPS).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69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000000"/>
                </a:solidFill>
              </a:rPr>
              <a:t>Тестовий план (Test Plan)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130375" y="1441200"/>
            <a:ext cx="4962600" cy="3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Об'єкти тестування (Test Scope)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Web UI: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Торговий термінал (графіки, стакан).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Гаманець (депозити, виведення).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Адмін-панель (блокування юзерів).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API (Application Programming Interface):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i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REST API v3: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Публічні дані та приватні операції.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i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WebSocket: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Стрімінг ринкових даних (Market Streams).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Інструментарій (Tools &amp; Tech Stack)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Управління: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Jira, TestRail.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API Testing: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Postman (ручне), Python + Requests (авто).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UI Testing: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Selenium WebDriver / Playwright.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Performance: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JMeter (навантаження API), K6.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CI/CD: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GitHub Actions / GitLab CI.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4743175" y="1441200"/>
            <a:ext cx="4572000" cy="3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Стратегія тестування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Функціональне: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Перевірка бізнес-логіки (ордери, транзакції).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Навантажувальне: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Перевірка стабільності API при високому TPS.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Безпека: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Валідація підписів, перевірка Rate Limits.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Юзабіліті: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Оцінка зручності інтерфейсу для трейдерів.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Ризики (Risks)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Технічні: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Нестабільність тестових мереж (Testnet) блокчейнів.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Блокування: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Тимчасовий бан IP (HTTP 429) при агресивному тестуванні API.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Синхронізація: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Помилки </a:t>
            </a:r>
            <a:r>
              <a:rPr lang="en-GB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timestamp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через розбіжність часу клієнта/сервера.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669550" y="531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Тестова документація (Огляд та Статистика)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0" y="1325750"/>
            <a:ext cx="4536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Ключові модулі системи (Checklists):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Trading Core: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Термінал та Ордери (Spot).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Wallet: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Депозити, виводи, транзакції.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API Interfaces: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REST, WebSocket, Auth.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Security: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2FA, API-ключі, Анти-фішинг.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Account: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Реєстрація, налаштування.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KYC: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Верифікація особистості.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Admin: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Управління ризиками.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Market Data: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Ринкові дані та графіки.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73100" y="1325750"/>
            <a:ext cx="4170900" cy="30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Статистика покриття: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Загальна кількість перевірок: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~52 тест-кейси.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Покриття функціоналу: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100% критичних шляхів.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Розподіл за пріоритетом: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🔴 </a:t>
            </a: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Critical / High: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70% (Основний фокус на безпеці та фінансах).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🟡 </a:t>
            </a: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Medium / Low: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30% (UI та зручність).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Тестова документація (Приклад тест-кейсів)</a:t>
            </a:r>
            <a:endParaRPr/>
          </a:p>
        </p:txBody>
      </p:sp>
      <p:graphicFrame>
        <p:nvGraphicFramePr>
          <p:cNvPr id="114" name="Google Shape;114;p17"/>
          <p:cNvGraphicFramePr/>
          <p:nvPr/>
        </p:nvGraphicFramePr>
        <p:xfrm>
          <a:off x="931500" y="190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{100DE6C9-F5B7-43DE-94F6-806437100C65}</a:tableStyleId>
              </a:tblPr>
              <a:tblGrid>
                <a:gridCol w="952500"/>
                <a:gridCol w="1114425"/>
                <a:gridCol w="952500"/>
                <a:gridCol w="2667000"/>
                <a:gridCol w="1800225"/>
              </a:tblGrid>
              <a:tr h="114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TC-TRD-01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Завантаження графіка (TradingView)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Користувач перейшов на сторінку торгівлі (напр., BTC/USDT)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 Перевірити центральну область екрану.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2. Перевірити наявність свічкового графіка (Candlestick chart).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Віджет TradingView завантажується успішно. Відображаються свічки, цінова шкала (вісь Y) та часова шкала (вісь X).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962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TC-TRD-02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Зміна таймфрейму графіка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Графік завантажено, поточний таймфрейм "15m"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 На панелі інструментів графіка натиснути "1h" (1 година).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2. Натиснути "1d" (1 день).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Графік перебудовується відповідно до обраного таймфрейму. Кількість свічок та їх масштаб змінюються.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962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TC-TRD-03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Використання інструментів малювання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Графік завантажено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1. Обрати інструмент "Trend Line" (Лінія тренду).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2. Намалювати лінію на графіку.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Лінія з'являється на графіку і залишається на ньому навіть після перемикання таймфреймів.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113250" y="535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Юзабіліті-тестування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113250" y="1539725"/>
            <a:ext cx="3747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Методологія (Methodology)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Учасники: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5 респондентів (2 Expert Traders, 3 Novices).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Метрики: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Success Rate: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% успішного виконання.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Time on Task: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Час виконання (сек).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SUS: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System Usability Scale (суб'єктивна оцінка).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0" y="3556875"/>
            <a:ext cx="54951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Ключові сценарії (Test Scenarios)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Market Navigation: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 Пошук пари BTC/USDT та аналіз графіка.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Trading: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 Розміщення лімітного ордера (Limit Order).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API Management: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 Створення ключів для алго-трейдингу.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Wallet: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 Депозит USDT (вибір мережі TRC20).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4136700" y="1404750"/>
            <a:ext cx="5007300" cy="17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Результати сценарію «Створення API Key»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Success Rate: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 100% (Всі впоралися).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Time on Task: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 ~90 сек (Найдовший сценарій).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Бар'єр: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 Потрійна верифікація (Email + SMS + 2FA) займає багато часу.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-GB" sz="1200">
                <a:latin typeface="Raleway"/>
                <a:ea typeface="Raleway"/>
                <a:cs typeface="Raleway"/>
                <a:sym typeface="Raleway"/>
              </a:rPr>
              <a:t>Фідбек:</a:t>
            </a: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i="1" lang="en-GB" sz="1200">
                <a:latin typeface="Raleway"/>
                <a:ea typeface="Raleway"/>
                <a:cs typeface="Raleway"/>
                <a:sym typeface="Raleway"/>
              </a:rPr>
              <a:t>"Процес безпечний, але втомлює вводити 3 коди підряд. Не вистачає кнопки 'Copy All' для ключів."</a:t>
            </a:r>
            <a:endParaRPr i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7650" y="5997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Автоматизація тестування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173175" y="1441200"/>
            <a:ext cx="2848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Технологічний стек (Tech Stack):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Language: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Python 3.12.3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Framework: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Pytest 9.0.2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Libraries: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i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API: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Requests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i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UI: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Selenium WebDriver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aleway"/>
              <a:buChar char="○"/>
            </a:pPr>
            <a:r>
              <a:rPr i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Reporting: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Pytest-HTML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173175" y="3534550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Використано патерн </a:t>
            </a:r>
            <a:r>
              <a:rPr b="1" lang="en-GB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Page Object Model (POM)</a:t>
            </a:r>
            <a:r>
              <a:rPr lang="en-GB" sz="1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 для розділення логіки пошуку елементів та тестових сценаріїв. Тести поділені на api/ (бекенд) та ui/ (фронтенд).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843950" y="1441200"/>
            <a:ext cx="383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Результати виконання (Execution Log):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582" y="2017650"/>
            <a:ext cx="4847318" cy="1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72250" y="693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en-GB" sz="2400">
                <a:solidFill>
                  <a:srgbClr val="000000"/>
                </a:solidFill>
              </a:rPr>
              <a:t>Висновки та Рекомендації</a:t>
            </a:r>
            <a:endParaRPr sz="2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400"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0" y="1548275"/>
            <a:ext cx="4331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1. Загальна оцінка якості (Product Quality)</a:t>
            </a:r>
            <a:endParaRPr b="1"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За результатами комплексної перевірки платформа Binance демонструє: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Високу надійність: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Критичних дефектів у фінансовому ядрі (Matching Engine) та модулях транзакцій не виявлено.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Безпеку: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Система відповідає суворим вимогам захисту даних (обов'язкова 2FA, валідація підписів API, захист від фішингу).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Стабільність API:</a:t>
            </a:r>
            <a:r>
              <a:rPr lang="en-GB" sz="1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Публічні та приватні ендпоінти працюють згідно з документацією, обробка помилок (Error Handling) реалізована коректно.</a:t>
            </a:r>
            <a:endParaRPr sz="12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4299300" y="1229100"/>
            <a:ext cx="4844700" cy="3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Виявлені недоліки (Weaknesses)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UX для новачків:</a:t>
            </a:r>
            <a:r>
              <a:rPr lang="en-GB" sz="1100"/>
              <a:t> Високий поріг входу. Торговий термінал перевантажений функціоналом, що ускладнює перші кроки (Success Rate у новачків нижчий на 40%).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Навігація:</a:t>
            </a:r>
            <a:r>
              <a:rPr lang="en-GB" sz="1100"/>
              <a:t> У розділі "Безпека" відсутній пошук, що збільшує час виконання налаштувань (&gt;2 хв).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GB" sz="1100"/>
              <a:t>Dev Experience:</a:t>
            </a:r>
            <a:r>
              <a:rPr lang="en-GB" sz="1100"/>
              <a:t> Процес копіювання API-ключів не оптимізований для швидкого налаштування ботів.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/>
              <a:t>3. Рекомендації (Next Steps)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UI:</a:t>
            </a:r>
            <a:r>
              <a:rPr lang="en-GB" sz="1100"/>
              <a:t> Впровадити режим </a:t>
            </a:r>
            <a:r>
              <a:rPr b="1" lang="en-GB" sz="1100"/>
              <a:t>"Simple Mode"</a:t>
            </a:r>
            <a:r>
              <a:rPr lang="en-GB" sz="1100"/>
              <a:t> для форми ордера (приховати складні типи OCO/Stop-Limit за замовчуванням).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UX:</a:t>
            </a:r>
            <a:r>
              <a:rPr lang="en-GB" sz="1100"/>
              <a:t> Додати </a:t>
            </a:r>
            <a:r>
              <a:rPr b="1" lang="en-GB" sz="1100"/>
              <a:t>пошуковий рядок</a:t>
            </a:r>
            <a:r>
              <a:rPr lang="en-GB" sz="1100"/>
              <a:t> у розділі налаштувань профілю та безпеки.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API:</a:t>
            </a:r>
            <a:r>
              <a:rPr lang="en-GB" sz="1100"/>
              <a:t> Додати кнопку </a:t>
            </a:r>
            <a:r>
              <a:rPr b="1" lang="en-GB" sz="1100"/>
              <a:t>"Copy All Keys (JSON)"</a:t>
            </a:r>
            <a:r>
              <a:rPr lang="en-GB" sz="1100"/>
              <a:t> для копіювання пари ключів одним кліком.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